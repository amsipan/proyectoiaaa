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822960"/>
            <a:ext cx="11094415" cy="0"/>
          </a:xfrm>
          <a:prstGeom prst="line">
            <a:avLst/>
          </a:prstGeom>
          <a:ln w="381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34440"/>
            <a:ext cx="1109441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161616"/>
                </a:solidFill>
                <a:latin typeface="Georgia"/>
              </a:rPr>
              <a:t>Inteligencia Artificial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161616"/>
                </a:solidFill>
                <a:latin typeface="Georgia"/>
              </a:rPr>
              <a:t>y Aprendizaje Automático</a:t>
            </a:r>
          </a:p>
          <a:p>
            <a:pPr algn="l">
              <a:lnSpc>
                <a:spcPct val="105000"/>
              </a:lnSpc>
            </a:pPr>
            <a:r>
              <a:rPr sz="5400" b="1">
                <a:solidFill>
                  <a:srgbClr val="161616"/>
                </a:solidFill>
                <a:latin typeface="Georgia"/>
              </a:rPr>
              <a:t>Proyecto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86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D3D3D"/>
                </a:solidFill>
                <a:latin typeface="Segoe UI"/>
              </a:rPr>
              <a:t>Predicción del comportamiento del fantasma con un modelo LSTM, </a:t>
            </a:r>
            <a:r>
              <a:rPr sz="1400" b="0">
                <a:solidFill>
                  <a:srgbClr val="3D3D3D"/>
                </a:solidFill>
                <a:latin typeface="Segoe UI"/>
              </a:rPr>
              <a:t>a partir de la estructura y la liquidez del motor de charting.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074920"/>
            <a:ext cx="2286000" cy="0"/>
          </a:xfrm>
          <a:prstGeom prst="line">
            <a:avLst/>
          </a:prstGeom>
          <a:ln w="3048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212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61616"/>
                </a:solidFill>
                <a:latin typeface="Georgia"/>
              </a:rPr>
              <a:t>7 649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3D3D"/>
                </a:solidFill>
                <a:latin typeface="Segoe UI"/>
              </a:rPr>
              <a:t>muestras de entrenamiento (abril–junio)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5074920"/>
            <a:ext cx="2286000" cy="0"/>
          </a:xfrm>
          <a:prstGeom prst="line">
            <a:avLst/>
          </a:prstGeom>
          <a:ln w="3048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83280" y="5212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61616"/>
                </a:solidFill>
                <a:latin typeface="Georgia"/>
              </a:rPr>
              <a:t>2 391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58978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3D3D"/>
                </a:solidFill>
                <a:latin typeface="Segoe UI"/>
              </a:rPr>
              <a:t>muestras de prueba (1–24 de julio)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5074920"/>
            <a:ext cx="2286000" cy="0"/>
          </a:xfrm>
          <a:prstGeom prst="line">
            <a:avLst/>
          </a:prstGeom>
          <a:ln w="3048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0" y="5212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61616"/>
                </a:solidFill>
                <a:latin typeface="Georgia"/>
              </a:rPr>
              <a:t>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8978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3D3D"/>
                </a:solidFill>
                <a:latin typeface="Segoe UI"/>
              </a:rPr>
              <a:t>variables de entrada normalizadas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2560" y="5074920"/>
            <a:ext cx="2286000" cy="0"/>
          </a:xfrm>
          <a:prstGeom prst="line">
            <a:avLst/>
          </a:prstGeom>
          <a:ln w="3048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52560" y="52120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61616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8978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3D3D3D"/>
                </a:solidFill>
                <a:latin typeface="Segoe UI"/>
              </a:rPr>
              <a:t>salidas: y3 · y5 · y10 · y15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A90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6B6B"/>
                </a:solidFill>
                <a:latin typeface="Segoe UI"/>
              </a:rPr>
              <a:t>01 · OBJETIVO DEL MODELO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3048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A90"/>
                </a:solidFill>
                <a:latin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616"/>
                </a:solidFill>
                <a:latin typeface="Georgia"/>
              </a:rPr>
              <a:t>Cuatro salidas, una por horizonte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6492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D"/>
                </a:solidFill>
                <a:latin typeface="Segoe UI"/>
              </a:rPr>
              <a:t>Cada vez que el fantasma aparece o se reubica se toma una muestra. El modelo predice cuántos rastros dejará hacia adelante en cuatro horizontes distintos.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743200"/>
            <a:ext cx="6309360" cy="0"/>
          </a:xfrm>
          <a:prstGeom prst="line">
            <a:avLst/>
          </a:prstGeom>
          <a:ln w="2286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852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DEFINICIÓN DE LAS SALIDAS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Consolas"/>
              </a:rPr>
              <a:t>y3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D3D3D"/>
                </a:solidFill>
                <a:latin typeface="Segoe UI"/>
              </a:rPr>
              <a:t>rastros que deja el fantasma en los próximos 3 minutos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767328"/>
            <a:ext cx="6309360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3913632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Consolas"/>
              </a:rPr>
              <a:t>y5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13632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D3D3D"/>
                </a:solidFill>
                <a:latin typeface="Segoe UI"/>
              </a:rPr>
              <a:t>rastros en los próximos 5 minutos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480560"/>
            <a:ext cx="6309360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626864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Consolas"/>
              </a:rPr>
              <a:t>y10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626864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D3D3D"/>
                </a:solidFill>
                <a:latin typeface="Segoe UI"/>
              </a:rPr>
              <a:t>rastros en los próximos 10 minutos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5193792"/>
            <a:ext cx="6309360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340096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Consolas"/>
              </a:rPr>
              <a:t>y15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40096"/>
            <a:ext cx="5303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D3D3D"/>
                </a:solidFill>
                <a:latin typeface="Segoe UI"/>
              </a:rPr>
              <a:t>rastros en los próximos 15 minutos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907024"/>
            <a:ext cx="6309360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2743200"/>
            <a:ext cx="4114801" cy="0"/>
          </a:xfrm>
          <a:prstGeom prst="line">
            <a:avLst/>
          </a:prstGeom>
          <a:ln w="2286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8079" y="28529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ENTRADA DEL MODELO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200400"/>
            <a:ext cx="4114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3D3D3D"/>
                </a:solidFill>
                <a:latin typeface="Segoe UI"/>
              </a:rPr>
              <a:t>Una ventana de </a:t>
            </a:r>
            <a:r>
              <a:rPr sz="1250" b="1">
                <a:solidFill>
                  <a:srgbClr val="161616"/>
                </a:solidFill>
                <a:latin typeface="Segoe UI"/>
              </a:rPr>
              <a:t>5 muestras consecutivas</a:t>
            </a:r>
            <a:r>
              <a:rPr sz="1250" b="0">
                <a:solidFill>
                  <a:srgbClr val="3D3D3D"/>
                </a:solidFill>
                <a:latin typeface="Segoe UI"/>
              </a:rPr>
              <a:t>, cada una con </a:t>
            </a:r>
            <a:r>
              <a:rPr sz="1250" b="1">
                <a:solidFill>
                  <a:srgbClr val="161616"/>
                </a:solidFill>
                <a:latin typeface="Segoe UI"/>
              </a:rPr>
              <a:t>86 variables</a:t>
            </a:r>
            <a:r>
              <a:rPr sz="1250" b="0">
                <a:solidFill>
                  <a:srgbClr val="3D3D3D"/>
                </a:solidFill>
                <a:latin typeface="Segoe UI"/>
              </a:rPr>
              <a:t> calculadas en la vela siguiente al evento: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3D3D3D"/>
                </a:solidFill>
                <a:latin typeface="Segoe UI"/>
              </a:rPr>
              <a:t>distancias en PIPs a niveles de liquidez y estructura (order blocks, FVG, Fibonacci, AVWAP, perfil de volumen, rupturas de estructura), en tres temporalidades: </a:t>
            </a:r>
            <a:r>
              <a:rPr sz="1250" b="1">
                <a:solidFill>
                  <a:srgbClr val="161616"/>
                </a:solidFill>
                <a:latin typeface="Segoe UI"/>
              </a:rPr>
              <a:t>1m, 10m y 1h.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6B6B"/>
                </a:solidFill>
                <a:latin typeface="Segoe UI"/>
              </a:rPr>
              <a:t>02 · CONSTRUCCIÓN DE LAS MUESTRAS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3048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A90"/>
                </a:solidFill>
                <a:latin typeface="Consola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616"/>
                </a:solidFill>
                <a:latin typeface="Georgia"/>
              </a:rPr>
              <a:t>El disparo es el evento del fantasma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6B6B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Detección del evento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9424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Se recorre el histórico 1m en modo Replay y se registra cada aparición o reubicación del fantasma provisional.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6B6B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Contexto causal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83864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Las variables se calculan mirando solo hacia atrás, con la información disponible hasta la vela siguiente al evento. Nada mira el futuro.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6B6B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Etiquetado automático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18304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Las salidas y3/y5/y10/y15 se obtienen contando los rastros que efectivamente aparecen después del evento.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79" y="1828800"/>
            <a:ext cx="4114801" cy="0"/>
          </a:xfrm>
          <a:prstGeom prst="line">
            <a:avLst/>
          </a:prstGeom>
          <a:ln w="2286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498079" y="19385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VOLUMEN DEL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286000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616"/>
                </a:solidFill>
                <a:latin typeface="Consolas"/>
              </a:rP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28600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D3D3D"/>
                </a:solidFill>
                <a:latin typeface="Segoe UI"/>
              </a:rPr>
              <a:t>7 649 muestras · abr–jun (88 736 velas)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79" y="2816352"/>
            <a:ext cx="4114801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79" y="2944368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616"/>
                </a:solidFill>
                <a:latin typeface="Consolas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944368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D3D3D"/>
                </a:solidFill>
                <a:latin typeface="Segoe UI"/>
              </a:rPr>
              <a:t>2 391 muestras · 1–24 jul (24 179 velas)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79" y="3474720"/>
            <a:ext cx="4114801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98079" y="3602736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1616"/>
                </a:solidFill>
                <a:latin typeface="Consolas"/>
              </a:rPr>
              <a:t>Secuencias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602736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D3D3D"/>
                </a:solidFill>
                <a:latin typeface="Segoe UI"/>
              </a:rPr>
              <a:t>7 645 train / 2 387 test (ventana 5)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79" y="4133087"/>
            <a:ext cx="4114801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8079" y="443484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B6B"/>
                </a:solidFill>
                <a:latin typeface="Segoe UI"/>
              </a:rPr>
              <a:t>El comportamiento del fantasma replica el indicador implementado en el motor de charting.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6B6B"/>
                </a:solidFill>
                <a:latin typeface="Segoe UI"/>
              </a:rPr>
              <a:t>03 · PROCESO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3048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A90"/>
                </a:solidFill>
                <a:latin typeface="Consola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616"/>
                </a:solidFill>
                <a:latin typeface="Georgia"/>
              </a:rPr>
              <a:t>Del CSV al modelo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920240"/>
            <a:ext cx="3383280" cy="0"/>
          </a:xfrm>
          <a:prstGeom prst="line">
            <a:avLst/>
          </a:prstGeom>
          <a:ln w="2286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0299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1 · EXTRACCIÓN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Script sin interfaz gráfica recorre el CSV en Replay y, en cada evento del fantasma, guarda una fila con las 86 variables y las 4 salidas futuras.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B6B"/>
                </a:solidFill>
                <a:latin typeface="Segoe UI"/>
              </a:rPr>
              <a:t>7 649 filas train · 2 391 test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89120" y="1920240"/>
            <a:ext cx="3383280" cy="0"/>
          </a:xfrm>
          <a:prstGeom prst="line">
            <a:avLst/>
          </a:prstGeom>
          <a:ln w="2286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89120" y="20299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2 · NORMALIZACIÓN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Estandarización z-score con media y desviación calculadas solo con train; el test se transforma con los mismos parámetros.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0292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B6B"/>
                </a:solidFill>
                <a:latin typeface="Segoe UI"/>
              </a:rPr>
              <a:t>Tiempo y metadatos no entrenan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0" y="1920240"/>
            <a:ext cx="3383280" cy="0"/>
          </a:xfrm>
          <a:prstGeom prst="line">
            <a:avLst/>
          </a:prstGeom>
          <a:ln w="2286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0" y="20299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3 · ENTRENAMIENTO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40"/>
            <a:ext cx="33832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LSTM de una capa (48 unidades, dropout 0.2), ventana de 5 muestras, 4 salidas, error cuadrático medio, optimizador Adam y parada temprana con validación.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02920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B6B"/>
                </a:solidFill>
                <a:latin typeface="Segoe UI"/>
              </a:rPr>
              <a:t>Pesos guardados en disco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B6B"/>
                </a:solidFill>
                <a:latin typeface="Segoe UI"/>
              </a:rPr>
              <a:t>Grid de 8 configuraciones (~8 min), elegida por validación · la demostración carga los pesos, no reentrena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6B6B"/>
                </a:solidFill>
                <a:latin typeface="Segoe UI"/>
              </a:rPr>
              <a:t>04 · RESULTADOS SOBRE JULIO (HOLDOUT)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3048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A90"/>
                </a:solidFill>
                <a:latin typeface="Consola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616"/>
                </a:solidFill>
                <a:latin typeface="Georgia"/>
              </a:rPr>
              <a:t>Error en el conteo de rastros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REGRESIÓN · N = 2 387 SECUENCIAS DE TEST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048255"/>
            <a:ext cx="6035039" cy="0"/>
          </a:xfrm>
          <a:prstGeom prst="line">
            <a:avLst/>
          </a:prstGeom>
          <a:ln w="254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3" y="2139696"/>
            <a:ext cx="206288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6118" y="2139696"/>
            <a:ext cx="18214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7331" y="2139696"/>
            <a:ext cx="18214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RMSE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487168"/>
            <a:ext cx="6035039" cy="0"/>
          </a:xfrm>
          <a:prstGeom prst="line">
            <a:avLst/>
          </a:prstGeom>
          <a:ln w="254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3503" y="2578608"/>
            <a:ext cx="206288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y3 · 3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6118" y="2578608"/>
            <a:ext cx="18214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7331" y="2578608"/>
            <a:ext cx="18214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1.01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035808"/>
            <a:ext cx="60350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3" y="3127248"/>
            <a:ext cx="206288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y5 · 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6118" y="3127248"/>
            <a:ext cx="18214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1.15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7331" y="3127248"/>
            <a:ext cx="18214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1.41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3584448"/>
            <a:ext cx="60350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3" y="3675887"/>
            <a:ext cx="206288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y10 · 10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6118" y="3675887"/>
            <a:ext cx="18214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1.75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7331" y="3675887"/>
            <a:ext cx="18214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2.15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133087"/>
            <a:ext cx="60350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3503" y="4224527"/>
            <a:ext cx="2062886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y15 · 15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6118" y="4224527"/>
            <a:ext cx="18214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2.24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7331" y="4224527"/>
            <a:ext cx="18214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2.77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681727"/>
            <a:ext cx="60350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8640" y="4681727"/>
            <a:ext cx="6035039" cy="0"/>
          </a:xfrm>
          <a:prstGeom prst="line">
            <a:avLst/>
          </a:prstGeom>
          <a:ln w="254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0" y="2103120"/>
            <a:ext cx="4297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3D3D3D"/>
                </a:solidFill>
                <a:latin typeface="Segoe UI"/>
              </a:rPr>
              <a:t>En la ventana corta el modelo se equivoca en </a:t>
            </a:r>
            <a:r>
              <a:rPr sz="1300" b="1">
                <a:solidFill>
                  <a:srgbClr val="161616"/>
                </a:solidFill>
                <a:latin typeface="Segoe UI"/>
              </a:rPr>
              <a:t>menos de un rastro</a:t>
            </a:r>
            <a:r>
              <a:rPr sz="1300" b="0">
                <a:solidFill>
                  <a:srgbClr val="3D3D3D"/>
                </a:solidFill>
                <a:latin typeface="Segoe UI"/>
              </a:rPr>
              <a:t> en promedio (MAE 0.82 en y3).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3D3D3D"/>
                </a:solidFill>
                <a:latin typeface="Segoe UI"/>
              </a:rPr>
              <a:t>El error crece con el horizonte, de forma esperada: a 15 minutos hay más rastros posibles y más incertidumbre.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>
                <a:solidFill>
                  <a:srgbClr val="3D3D3D"/>
                </a:solidFill>
                <a:latin typeface="Segoe UI"/>
              </a:rPr>
              <a:t>El error medio de las cuatro ventanas es </a:t>
            </a:r>
            <a:r>
              <a:rPr sz="1300" b="1">
                <a:solidFill>
                  <a:srgbClr val="161616"/>
                </a:solidFill>
                <a:latin typeface="Segoe UI"/>
              </a:rPr>
              <a:t>1.49 rastros</a:t>
            </a:r>
            <a:r>
              <a:rPr sz="1300" b="0">
                <a:solidFill>
                  <a:srgbClr val="3D3D3D"/>
                </a:solidFill>
                <a:latin typeface="Segoe UI"/>
              </a:rPr>
              <a:t>, un 17% menos que la primera versión entrenada del modelo.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B6B"/>
                </a:solidFill>
                <a:latin typeface="Segoe UI"/>
              </a:rPr>
              <a:t>MAE: error medio absoluto en rastros · RMSE penaliza errores grandes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6B6B"/>
                </a:solidFill>
                <a:latin typeface="Segoe UI"/>
              </a:rPr>
              <a:t>04 · VISTA BINARIA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3048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A90"/>
                </a:solidFill>
                <a:latin typeface="Consola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616"/>
                </a:solidFill>
                <a:latin typeface="Georgia"/>
              </a:rPr>
              <a:t>¿Aparece al menos un rastro?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6949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POSITIVO = ≥1 RASTRO EN LA VENTANA · N = 2 387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048255"/>
            <a:ext cx="6949439" cy="0"/>
          </a:xfrm>
          <a:prstGeom prst="line">
            <a:avLst/>
          </a:prstGeom>
          <a:ln w="254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3" y="2139696"/>
            <a:ext cx="239207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5302" y="2139696"/>
            <a:ext cx="100218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212" y="2139696"/>
            <a:ext cx="100218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9123" y="2139696"/>
            <a:ext cx="100218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1033" y="2139696"/>
            <a:ext cx="100218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F1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2487168"/>
            <a:ext cx="6949439" cy="0"/>
          </a:xfrm>
          <a:prstGeom prst="line">
            <a:avLst/>
          </a:prstGeom>
          <a:ln w="254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3503" y="2578608"/>
            <a:ext cx="239207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302" y="257860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7212" y="257860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9123" y="257860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1033" y="257860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0.81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3035808"/>
            <a:ext cx="69494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3" y="3127248"/>
            <a:ext cx="239207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5302" y="312724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7212" y="312724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9123" y="312724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1033" y="312724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0.85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584448"/>
            <a:ext cx="69494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3503" y="3675887"/>
            <a:ext cx="239207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5302" y="367588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7212" y="367588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9123" y="367588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1033" y="367588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0.89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4133087"/>
            <a:ext cx="69494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3503" y="4224527"/>
            <a:ext cx="239207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5302" y="422452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0.83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17212" y="422452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0.84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9123" y="422452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1033" y="422452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0.91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4681727"/>
            <a:ext cx="69494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48640" y="4681727"/>
            <a:ext cx="6949439" cy="0"/>
          </a:xfrm>
          <a:prstGeom prst="line">
            <a:avLst/>
          </a:prstGeom>
          <a:ln w="254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046720" y="2103120"/>
            <a:ext cx="35661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3D3D3D"/>
                </a:solidFill>
                <a:latin typeface="Segoe UI"/>
              </a:rPr>
              <a:t>El modelo casi no se pierde una ventana con actividad: detecta </a:t>
            </a:r>
            <a:r>
              <a:rPr sz="1250" b="1">
                <a:solidFill>
                  <a:srgbClr val="161616"/>
                </a:solidFill>
                <a:latin typeface="Segoe UI"/>
              </a:rPr>
              <a:t>98–99%</a:t>
            </a:r>
            <a:r>
              <a:rPr sz="1250" b="0">
                <a:solidFill>
                  <a:srgbClr val="3D3D3D"/>
                </a:solidFill>
                <a:latin typeface="Segoe UI"/>
              </a:rPr>
              <a:t> de los casos con al menos un rastro (recall).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50" b="0">
                <a:solidFill>
                  <a:srgbClr val="3D3D3D"/>
                </a:solidFill>
                <a:latin typeface="Segoe UI"/>
              </a:rPr>
              <a:t>Cuando anuncia actividad a 10–15 minutos acierta 81–84% de las veces (precision); el F1 promedio de las cuatro ventanas es </a:t>
            </a:r>
            <a:r>
              <a:rPr sz="1250" b="1">
                <a:solidFill>
                  <a:srgbClr val="161616"/>
                </a:solidFill>
                <a:latin typeface="Segoe UI"/>
              </a:rPr>
              <a:t>0.87</a:t>
            </a:r>
            <a:r>
              <a:rPr sz="1250" b="0">
                <a:solidFill>
                  <a:srgbClr val="3D3D3D"/>
                </a:solidFill>
                <a:latin typeface="Segoe UI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8920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B6B"/>
                </a:solidFill>
                <a:latin typeface="Segoe UI"/>
              </a:rPr>
              <a:t>La salida continua se binariza con umbral 0.5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6B6B"/>
                </a:solidFill>
                <a:latin typeface="Segoe UI"/>
              </a:rPr>
              <a:t>04 · MATRIZ DE CONFUSIÓN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3048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A90"/>
                </a:solidFill>
                <a:latin typeface="Consola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616"/>
                </a:solidFill>
                <a:latin typeface="Georgia"/>
              </a:rPr>
              <a:t>Detalle por ventana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6949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POSITIVO = ≥1 RASTRO · N = 2 387 POR FILA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048255"/>
            <a:ext cx="6949439" cy="0"/>
          </a:xfrm>
          <a:prstGeom prst="line">
            <a:avLst/>
          </a:prstGeom>
          <a:ln w="254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3" y="2139696"/>
            <a:ext cx="239207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5302" y="2139696"/>
            <a:ext cx="100218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TP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212" y="2139696"/>
            <a:ext cx="100218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FP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9123" y="2139696"/>
            <a:ext cx="100218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TN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1033" y="2139696"/>
            <a:ext cx="100218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161616"/>
                </a:solidFill>
                <a:latin typeface="Segoe UI"/>
              </a:rPr>
              <a:t>FN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2487168"/>
            <a:ext cx="6949439" cy="0"/>
          </a:xfrm>
          <a:prstGeom prst="line">
            <a:avLst/>
          </a:prstGeom>
          <a:ln w="254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3503" y="2578608"/>
            <a:ext cx="239207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302" y="257860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1 513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7212" y="257860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668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9123" y="257860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174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1033" y="257860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32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3035808"/>
            <a:ext cx="69494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3" y="3127248"/>
            <a:ext cx="239207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5302" y="312724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1 675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17212" y="312724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563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9123" y="312724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126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1033" y="3127248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23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584448"/>
            <a:ext cx="69494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3503" y="3675887"/>
            <a:ext cx="239207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5302" y="367588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1 862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7212" y="367588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427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9123" y="367588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1033" y="367588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17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4133087"/>
            <a:ext cx="69494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3503" y="4224527"/>
            <a:ext cx="239207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616"/>
                </a:solidFill>
                <a:latin typeface="Segoe UI"/>
              </a:rPr>
              <a:t>y15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5302" y="422452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1 939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17212" y="422452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380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9123" y="422452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1033" y="4224527"/>
            <a:ext cx="100218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3D3D3D"/>
                </a:solidFill>
                <a:latin typeface="Consolas"/>
              </a:rPr>
              <a:t>22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4681727"/>
            <a:ext cx="6949439" cy="0"/>
          </a:xfrm>
          <a:prstGeom prst="line">
            <a:avLst/>
          </a:prstGeom>
          <a:ln w="11430">
            <a:solidFill>
              <a:srgbClr val="D9D9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48640" y="4681727"/>
            <a:ext cx="6949439" cy="0"/>
          </a:xfrm>
          <a:prstGeom prst="line">
            <a:avLst/>
          </a:prstGeom>
          <a:ln w="2540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46720" y="1920240"/>
            <a:ext cx="3566160" cy="0"/>
          </a:xfrm>
          <a:prstGeom prst="line">
            <a:avLst/>
          </a:prstGeom>
          <a:ln w="2286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046720" y="202996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LECTURA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23774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1616"/>
                </a:solidFill>
                <a:latin typeface="Consolas"/>
              </a:rPr>
              <a:t>TP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23774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predijo rastro y sí hubo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28803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1616"/>
                </a:solidFill>
                <a:latin typeface="Consolas"/>
              </a:rPr>
              <a:t>FP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2880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predijo rastro y no hubo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33832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1616"/>
                </a:solidFill>
                <a:latin typeface="Consolas"/>
              </a:rPr>
              <a:t>TN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3383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predijo que no y no hubo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38862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61616"/>
                </a:solidFill>
                <a:latin typeface="Consolas"/>
              </a:rPr>
              <a:t>FN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8862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predijo que no y sí hubo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5720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B6B"/>
                </a:solidFill>
                <a:latin typeface="Segoe UI"/>
              </a:rPr>
              <a:t>Casi no deja pasar actividad real: solo 17–32 falsos negativos por ventana, de 1 545–1 961 casos con rastro.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B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6B6B6B"/>
                </a:solidFill>
                <a:latin typeface="Segoe UI"/>
              </a:rPr>
              <a:t>05 · DEMOSTRACIÓN EN VIVO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3048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A9A90"/>
                </a:solidFill>
                <a:latin typeface="Consola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61616"/>
                </a:solidFill>
                <a:latin typeface="Georgia"/>
              </a:rPr>
              <a:t>Cargar el modelo y comparar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D3D3D"/>
                </a:solidFill>
                <a:latin typeface="Segoe UI"/>
              </a:rPr>
              <a:t>El programa carga los pesos entrenados (</a:t>
            </a:r>
            <a:r>
              <a:rPr sz="1300" b="1">
                <a:solidFill>
                  <a:srgbClr val="161616"/>
                </a:solidFill>
                <a:latin typeface="Segoe UI"/>
              </a:rPr>
              <a:t>no reentrena</a:t>
            </a:r>
            <a:r>
              <a:rPr sz="1300" b="0">
                <a:solidFill>
                  <a:srgbClr val="3D3D3D"/>
                </a:solidFill>
                <a:latin typeface="Segoe UI"/>
              </a:rPr>
              <a:t>), arma las ventanas de 5 muestras sobre el test ya normalizado e imprime el conteo real contra la predicción para varios puntos de julio.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1091672" cy="13716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8A8A80"/>
                </a:solidFill>
                <a:latin typeface="Consolas"/>
              </a:rPr>
              <a:t># entorno: WSL Fedora · raíz del proyecto</a:t>
            </a:r>
          </a:p>
          <a:p>
            <a:pPr algn="l">
              <a:lnSpc>
                <a:spcPct val="145000"/>
              </a:lnSpc>
            </a:pPr>
            <a:r>
              <a:rPr sz="1250" b="1">
                <a:solidFill>
                  <a:srgbClr val="FBFBF9"/>
                </a:solidFill>
                <a:latin typeface="Consolas"/>
              </a:rPr>
              <a:t>cd /mnt/c/Users/bryan/ia/proyecto_iaaa/Proyecto/ProyectoIAAA</a:t>
            </a:r>
          </a:p>
          <a:p>
            <a:pPr algn="l">
              <a:lnSpc>
                <a:spcPct val="145000"/>
              </a:lnSpc>
            </a:pPr>
            <a:r>
              <a:rPr sz="1250" b="1">
                <a:solidFill>
                  <a:srgbClr val="FBFBF9"/>
                </a:solidFill>
                <a:latin typeface="Consolas"/>
              </a:rPr>
              <a:t>perl -I. scripts/demo_fantasma_predict.pl --n 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480560"/>
            <a:ext cx="3383280" cy="0"/>
          </a:xfrm>
          <a:prstGeom prst="line">
            <a:avLst/>
          </a:prstGeom>
          <a:ln w="2286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45902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PASO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01184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Carga el test normalizado y los pesos .params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4480560"/>
            <a:ext cx="3383280" cy="0"/>
          </a:xfrm>
          <a:prstGeom prst="line">
            <a:avLst/>
          </a:prstGeom>
          <a:ln w="2286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89120" y="45902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PASO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901184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Construye ventanas de 5 muestras consecutivas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0" y="4480560"/>
            <a:ext cx="3383280" cy="0"/>
          </a:xfrm>
          <a:prstGeom prst="line">
            <a:avLst/>
          </a:prstGeom>
          <a:ln w="22860">
            <a:solidFill>
              <a:srgbClr val="16161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0" y="45902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6B6B6B"/>
                </a:solidFill>
                <a:latin typeface="Segoe UI"/>
              </a:rPr>
              <a:t>PASO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901184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D3D3D"/>
                </a:solidFill>
                <a:latin typeface="Segoe UI"/>
              </a:rPr>
              <a:t>Imprime TRUE vs PRED para y3 · y5 · y10 · y15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6B6B"/>
                </a:solidFill>
                <a:latin typeface="Segoe UI"/>
              </a:rPr>
              <a:t>Ejecución en pocos segundos · respaldo: métricas y predicciones guardadas en disco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30480">
            <a:solidFill>
              <a:srgbClr val="FBFB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BFBF9"/>
                </a:solidFill>
                <a:latin typeface="Georgia"/>
              </a:rPr>
              <a:t>Qué queda demostrado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A9A90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BFBF9"/>
                </a:solidFill>
                <a:latin typeface="Segoe UI"/>
              </a:rPr>
              <a:t>El disparo es correcto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9424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9C0"/>
                </a:solidFill>
                <a:latin typeface="Segoe UI"/>
              </a:rPr>
              <a:t>Cada muestra corresponde a un evento real del fantasma, con contexto estrictamente causal.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A9A90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BFBF9"/>
                </a:solidFill>
                <a:latin typeface="Segoe UI"/>
              </a:rPr>
              <a:t>El pipeline es reproducible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38144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9C0"/>
                </a:solidFill>
                <a:latin typeface="Segoe UI"/>
              </a:rPr>
              <a:t>Extracción, normalización, entrenamiento y evaluación quedan como scripts ejecutables.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A9A90"/>
                </a:solidFill>
                <a:latin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BFBF9"/>
                </a:solidFill>
                <a:latin typeface="Segoe UI"/>
              </a:rPr>
              <a:t>El modelo predice en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26864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9C9C0"/>
                </a:solidFill>
                <a:latin typeface="Segoe UI"/>
              </a:rPr>
              <a:t>Carga los pesos y compara contra datos que nunca vio en entrenamiento.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828800"/>
            <a:ext cx="4114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9A9A90"/>
                </a:solidFill>
                <a:latin typeface="Segoe UI"/>
              </a:rPr>
              <a:t>RESUMEN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79" y="2139696"/>
            <a:ext cx="4114801" cy="0"/>
          </a:xfrm>
          <a:prstGeom prst="line">
            <a:avLst/>
          </a:prstGeom>
          <a:ln w="25400">
            <a:solidFill>
              <a:srgbClr val="FBFB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52944" y="2231136"/>
            <a:ext cx="227685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BFBF9"/>
                </a:solidFill>
                <a:latin typeface="Segoe UI"/>
              </a:rPr>
              <a:t>Pieza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9528" y="2231136"/>
            <a:ext cx="16184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1">
                <a:solidFill>
                  <a:srgbClr val="FBFBF9"/>
                </a:solidFill>
                <a:latin typeface="Segoe UI"/>
              </a:rPr>
              <a:t>Valor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79" y="2578608"/>
            <a:ext cx="4114801" cy="0"/>
          </a:xfrm>
          <a:prstGeom prst="line">
            <a:avLst/>
          </a:prstGeom>
          <a:ln w="25400">
            <a:solidFill>
              <a:srgbClr val="FBFB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52944" y="2670048"/>
            <a:ext cx="22768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BFBF9"/>
                </a:solidFill>
                <a:latin typeface="Segoe UI"/>
              </a:rPr>
              <a:t>Dataset train/test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2670048"/>
            <a:ext cx="1618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C9C0"/>
                </a:solidFill>
                <a:latin typeface="Consolas"/>
              </a:rPr>
              <a:t>7 649 / 2 391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79" y="3090672"/>
            <a:ext cx="4114801" cy="0"/>
          </a:xfrm>
          <a:prstGeom prst="line">
            <a:avLst/>
          </a:prstGeom>
          <a:ln w="11430">
            <a:solidFill>
              <a:srgbClr val="3D3D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52944" y="3182112"/>
            <a:ext cx="22768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BFBF9"/>
                </a:solidFill>
                <a:latin typeface="Segoe UI"/>
              </a:rPr>
              <a:t>Variables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3182112"/>
            <a:ext cx="1618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C9C0"/>
                </a:solidFill>
                <a:latin typeface="Consolas"/>
              </a:rPr>
              <a:t>86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79" y="3602736"/>
            <a:ext cx="4114801" cy="0"/>
          </a:xfrm>
          <a:prstGeom prst="line">
            <a:avLst/>
          </a:prstGeom>
          <a:ln w="11430">
            <a:solidFill>
              <a:srgbClr val="3D3D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52944" y="3694176"/>
            <a:ext cx="22768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BFBF9"/>
                </a:solidFill>
                <a:latin typeface="Segoe UI"/>
              </a:rPr>
              <a:t>MAE prom · 4 ventanas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3694176"/>
            <a:ext cx="1618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C9C0"/>
                </a:solidFill>
                <a:latin typeface="Consolas"/>
              </a:rPr>
              <a:t>1.49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79" y="4114800"/>
            <a:ext cx="4114801" cy="0"/>
          </a:xfrm>
          <a:prstGeom prst="line">
            <a:avLst/>
          </a:prstGeom>
          <a:ln w="11430">
            <a:solidFill>
              <a:srgbClr val="3D3D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552944" y="4206240"/>
            <a:ext cx="227685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BFBF9"/>
                </a:solidFill>
                <a:latin typeface="Segoe UI"/>
              </a:rPr>
              <a:t>F1 prom · binario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4206240"/>
            <a:ext cx="1618488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C9C0"/>
                </a:solidFill>
                <a:latin typeface="Consolas"/>
              </a:rPr>
              <a:t>0.87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79" y="4626864"/>
            <a:ext cx="4114801" cy="0"/>
          </a:xfrm>
          <a:prstGeom prst="line">
            <a:avLst/>
          </a:prstGeom>
          <a:ln w="11430">
            <a:solidFill>
              <a:srgbClr val="3D3D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98079" y="4626864"/>
            <a:ext cx="4114801" cy="0"/>
          </a:xfrm>
          <a:prstGeom prst="line">
            <a:avLst/>
          </a:prstGeom>
          <a:ln w="25400">
            <a:solidFill>
              <a:srgbClr val="FBFBF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2772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8A8A80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